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5" r:id="rId15"/>
    <p:sldId id="269" r:id="rId16"/>
  </p:sldIdLst>
  <p:sldSz cx="12192000" cy="6858000"/>
  <p:notesSz cx="6858000" cy="12192000"/>
  <p:embeddedFontLs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  <p:embeddedFont>
      <p:font typeface="Playfair Display" panose="00000500000000000000" pitchFamily="2" charset="0"/>
      <p:regular r:id="rId20"/>
      <p:bold r:id="rId21"/>
      <p:italic r:id="rId22"/>
      <p:boldItalic r:id="rId23"/>
    </p:embeddedFont>
    <p:embeddedFont>
      <p:font typeface="Playfair Display Bold" panose="000008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88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2368-045F-4FA5-8E81-2A8971FA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C9D5D-BB57-B0E4-A21F-67EDC3FC2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85055-21A5-B781-4E80-1578A8A26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C065-882F-5492-BE55-6361854C0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46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F98A-0670-E3ED-ED63-72E63A14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DB8C9-7CBC-CF4A-9F4A-BAD1DCB62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22D59-1D4E-EAA5-A5A4-4AED14F17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0830-63AE-D267-C871-F3E474E0C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65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F35B-3D67-EE69-4B52-2BC6E8A2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D939-4276-EC57-FF79-3170F8BEA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13DE6-3F4F-EAAF-3DA9-3225F6D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386B1-1137-345D-C86F-D001DA7EE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7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F4B1-F746-410A-3B62-388A26DE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40174-6E52-7891-5D38-320F778F1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D031A-0A96-0586-ACA6-A70CA72CC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929A-BD1A-90CF-B013-4F7DE7420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47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AD25-94C3-0E03-0F86-E8D6A20C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8408E-58B9-73DE-F598-C0EAD3E8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94843-2873-A427-8756-417FFDBF5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2C5A2-454A-D7F6-ECDF-A7EFAC74D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3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5356" y="3306680"/>
            <a:ext cx="470427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</a:rPr>
              <a:t>Capstone Project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627078" y="4555612"/>
            <a:ext cx="1903141" cy="1271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b="1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Integrantes</a:t>
            </a:r>
            <a:r>
              <a:rPr lang="en-US" sz="14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r>
              <a:rPr lang="en-US" sz="14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Bryan Moscoso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Cuevas</a:t>
            </a:r>
            <a:b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Elizabeth Soto 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978486" y="4082901"/>
            <a:ext cx="2563658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4"/>
          <p:cNvSpPr/>
          <p:nvPr/>
        </p:nvSpPr>
        <p:spPr>
          <a:xfrm>
            <a:off x="9091891" y="4139555"/>
            <a:ext cx="38957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CHECK-IN-OBRA – SECCIÓN: 008V</a:t>
            </a:r>
            <a:endParaRPr lang="en-US" sz="11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825D32B-0A80-6745-B081-3A265638E4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83F7A8-BB98-5332-A055-409E18B92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724" y="188022"/>
            <a:ext cx="4246924" cy="2933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58F5-EADD-CA73-D259-C38DF098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3461E7-E601-E9E3-12F9-7B9DBE7BA1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C2F8B7D-AADF-306B-AB28-7E6EB514C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D130520-6FC7-A3A6-FE9D-FE8769FB0B1C}"/>
              </a:ext>
            </a:extLst>
          </p:cNvPr>
          <p:cNvSpPr/>
          <p:nvPr/>
        </p:nvSpPr>
        <p:spPr>
          <a:xfrm>
            <a:off x="5233360" y="22883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u="sng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Check-In-Obra</a:t>
            </a:r>
            <a:endParaRPr lang="en-US" sz="3700" u="sng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28780C5-1B45-C218-DB3A-ED03F8B43183}"/>
              </a:ext>
            </a:extLst>
          </p:cNvPr>
          <p:cNvSpPr/>
          <p:nvPr/>
        </p:nvSpPr>
        <p:spPr>
          <a:xfrm>
            <a:off x="5233360" y="316249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integrated enterprise software solution that digitizes on-site toolhouse tracking, automates material take-off calculations, and controls construction budget lifecycles in real time.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57D2CFE-19B8-0809-A63D-9AB05F43602B}"/>
              </a:ext>
            </a:extLst>
          </p:cNvPr>
          <p:cNvSpPr/>
          <p:nvPr/>
        </p:nvSpPr>
        <p:spPr>
          <a:xfrm>
            <a:off x="5233360" y="4282380"/>
            <a:ext cx="3512950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B359BD-6376-AB4E-44E7-35BF038B0E45}"/>
              </a:ext>
            </a:extLst>
          </p:cNvPr>
          <p:cNvSpPr/>
          <p:nvPr/>
        </p:nvSpPr>
        <p:spPr>
          <a:xfrm>
            <a:off x="5346765" y="4339034"/>
            <a:ext cx="38957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u="sng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</a:t>
            </a:r>
            <a:r>
              <a:rPr lang="en-US" sz="1200" u="sng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ENGINEERING</a:t>
            </a:r>
            <a:r>
              <a:rPr lang="en-US" sz="1150" u="sng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CAPSTONE PROJECT</a:t>
            </a:r>
            <a:endParaRPr lang="en-US" sz="1150" u="sng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9CFCD16-3D8F-6BE2-1DDB-F5A90F787D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1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EBCE67E5-7C41-5427-E775-209F864F49B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19759" y="-49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37049"/>
            <a:ext cx="543452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Is Check-In-Obra?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1734989"/>
            <a:ext cx="3053877" cy="1693962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50482" y="1924000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RESTful Backend API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332683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Enterprise-grade server handling all business logic and data operations.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1734989"/>
            <a:ext cx="3053976" cy="1693962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4093366" y="1924000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Native Android App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2332683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On-site mobile application for warehouse keepers and site workers.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3617962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50482" y="380697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Digitization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4215656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Replaces paper logbooks with automated digital records and instant alerts.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913"/>
            <a:ext cx="646394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Who Built It &amp; Who It Helps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0184"/>
            <a:ext cx="3660359" cy="5040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2" y="1693823"/>
            <a:ext cx="1293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Team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627256" y="204539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Developed by a three-member Computer Engineering team under the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Scrum agile framework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4633203" y="2870423"/>
            <a:ext cx="17417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Who It Serves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627255" y="323373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chemeClr val="bg2">
                    <a:lumMod val="25000"/>
                  </a:schemeClr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Site workers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faster tool checkouts</a:t>
            </a:r>
            <a:endParaRPr lang="en-US" sz="1450" dirty="0">
              <a:solidFill>
                <a:schemeClr val="bg2">
                  <a:lumMod val="25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chemeClr val="bg2">
                    <a:lumMod val="25000"/>
                  </a:schemeClr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Warehouse keepers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digital inventory management</a:t>
            </a:r>
            <a:endParaRPr lang="en-US" sz="1450" dirty="0">
              <a:solidFill>
                <a:schemeClr val="bg2">
                  <a:lumMod val="25000"/>
                </a:schemeClr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chemeClr val="bg2">
                    <a:lumMod val="25000"/>
                  </a:schemeClr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Site managers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real-time cost and asset visibility</a:t>
            </a:r>
            <a:endParaRPr lang="en-US" sz="145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6A925E4-BD29-E24F-A132-E53BFDEDD1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EE67-07C6-0221-FF84-A8876A01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6DE548-6EEA-F165-9EB8-B9B66A546898}"/>
              </a:ext>
            </a:extLst>
          </p:cNvPr>
          <p:cNvSpPr/>
          <p:nvPr/>
        </p:nvSpPr>
        <p:spPr>
          <a:xfrm>
            <a:off x="362311" y="360520"/>
            <a:ext cx="11662912" cy="73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 company – </a:t>
            </a:r>
            <a:r>
              <a:rPr lang="en-US" sz="3700" b="1" u="sng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Constructora Nuevo Horizonte </a:t>
            </a:r>
            <a:r>
              <a:rPr lang="en-US" sz="3700" b="1" u="sng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SpA</a:t>
            </a:r>
            <a:endParaRPr lang="en-US" sz="3700" u="sng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9D7A948-FFE2-136C-6041-38FEF3143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1" y="1092279"/>
            <a:ext cx="3504219" cy="495483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3906E95-0F4C-5CE2-3C22-C9050BFB3B7E}"/>
              </a:ext>
            </a:extLst>
          </p:cNvPr>
          <p:cNvSpPr/>
          <p:nvPr/>
        </p:nvSpPr>
        <p:spPr>
          <a:xfrm>
            <a:off x="4426599" y="1477317"/>
            <a:ext cx="13444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needs: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0B399ED-B877-EA5B-93E2-66440786A3DD}"/>
              </a:ext>
            </a:extLst>
          </p:cNvPr>
          <p:cNvSpPr/>
          <p:nvPr/>
        </p:nvSpPr>
        <p:spPr>
          <a:xfrm>
            <a:off x="4426598" y="1858613"/>
            <a:ext cx="5019328" cy="1395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Digitize the registry of tools and materials.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the status of resources in real time.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errors associated with manual record-keeping.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losses and consumption variances.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control over construction project budgets.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D80029-4CC9-E872-1C94-3125F3D1BE51}"/>
              </a:ext>
            </a:extLst>
          </p:cNvPr>
          <p:cNvSpPr/>
          <p:nvPr/>
        </p:nvSpPr>
        <p:spPr>
          <a:xfrm>
            <a:off x="4426598" y="3387989"/>
            <a:ext cx="3112889" cy="32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Who will use the solution?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B56020-DA2F-AA9F-EE9A-1E2923AE45C9}"/>
              </a:ext>
            </a:extLst>
          </p:cNvPr>
          <p:cNvSpPr/>
          <p:nvPr/>
        </p:nvSpPr>
        <p:spPr>
          <a:xfrm>
            <a:off x="4426598" y="3797331"/>
            <a:ext cx="5614549" cy="1434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 err="1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Workers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Tool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requests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returns</a:t>
            </a:r>
            <a:endParaRPr lang="es-MX" sz="14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Warehouse</a:t>
            </a:r>
            <a:r>
              <a:rPr lang="es-MX" sz="1400" i="1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staff →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Inventory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loan tracking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via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QR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codes</a:t>
            </a:r>
            <a:endParaRPr lang="es-MX" sz="140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Site managers 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Resource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supervision</a:t>
            </a:r>
            <a:endParaRPr lang="es-MX" sz="140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Administration</a:t>
            </a:r>
            <a:r>
              <a:rPr lang="es-MX" sz="1400" i="1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Data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s-MX" sz="140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MX" sz="1400" dirty="0" err="1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decision-making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07430C-7507-7858-C172-761129AE42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2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Architecture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69" y="2111474"/>
            <a:ext cx="10740756" cy="308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8638" y="2333654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578638" y="2726291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21, Spring Boot 4.1.1, PostgreSQL 16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84699" y="3061867"/>
            <a:ext cx="2325876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Layer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884699" y="3454504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endpoints, multi-tenant isolation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0866" y="3898768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Mobile Client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80866" y="4291405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 3.47.1, Riverpod state management, Dio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412780"/>
            <a:ext cx="10949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and scalable architecture that enables the management of multiple construction projects while keeping their data separate.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F447387-F4F9-2D5B-85E3-C1F5C368F3B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6396AB1-CF4A-7119-4AA5-4D338FD13650}"/>
              </a:ext>
            </a:extLst>
          </p:cNvPr>
          <p:cNvSpPr txBox="1"/>
          <p:nvPr/>
        </p:nvSpPr>
        <p:spPr>
          <a:xfrm>
            <a:off x="7159925" y="3968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AB5F3F9-FFE3-41B8-DA3E-D0698EF84A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4263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221" y="303146"/>
            <a:ext cx="6952891" cy="123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does it improve work on the </a:t>
            </a:r>
          </a:p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construction site?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870373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QR Code Scanning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Warehouse keepers scan tool QR codes and worker IDs to register dispatches and returns in seconds.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26805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Inventory States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are tracked as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DISPONIBLE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PRESTADA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or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MANTENCION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all times.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83237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End-of-Shift Alerts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alerts trigger immediately when tools are not returned before shift end.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985"/>
            <a:ext cx="384151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Materials control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705345"/>
            <a:ext cx="28667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Parametric Calculations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151013"/>
            <a:ext cx="5169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automate calculations that are currently performed manually, reducing errors and administrative 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4" y="3228870"/>
            <a:ext cx="26251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Atomic Excel Imports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4" y="3655437"/>
            <a:ext cx="5169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structured data import via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Apache POI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enabling bulk material and budget data ingestion with full validation.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95" y="544872"/>
            <a:ext cx="4462811" cy="53679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46CC21F-020E-B6FF-8B9F-C33EB0AA619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7" y="830486"/>
            <a:ext cx="689536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Budget Lifecycle State Machine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5922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770981"/>
            <a:ext cx="10300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DRAFT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50482" y="31796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prices entered, open for editing.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825922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770981"/>
            <a:ext cx="17980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APPROVED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1796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validated and locked for execution.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825922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770981"/>
            <a:ext cx="19276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FROZEN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1796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 prices immutable; active deviation tracking enabled.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61475" y="41861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immutable state machine locks baseline contract prices and tracks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 consumption versus budget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while the job site is active, safeguarding project profit margins.</a:t>
            </a:r>
            <a:endParaRPr lang="en-US" sz="14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00C6AC-11BB-30A4-8C3B-8487FF8EEA6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1027113"/>
            <a:ext cx="432473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&amp; Testing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54560"/>
            <a:ext cx="2175019" cy="3022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68972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Multi-Tenant Isolation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77479" y="3348534"/>
            <a:ext cx="16446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tenant separation — unauthorized cross-tenant access returns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HTTP 404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501" y="2354560"/>
            <a:ext cx="2175118" cy="30228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41505" y="2568972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Migrations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3341505" y="3348534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Schema versioning managed by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Flyway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PostgreSQL 16.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626" y="2354560"/>
            <a:ext cx="2175118" cy="30228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05630" y="2568972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Test Coverage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705630" y="3053259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tested with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JUnit 5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mobile layer validated with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flutter_test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FC1635-BB3E-08BA-F387-4956A2806D1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5638069-ECB2-E9A1-2780-0DE02CBC65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631815" y="1209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8553"/>
            <a:ext cx="389871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impact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1722338"/>
            <a:ext cx="6296860" cy="3110905"/>
          </a:xfrm>
          <a:prstGeom prst="roundRect">
            <a:avLst>
              <a:gd name="adj" fmla="val 9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61475" y="1722338"/>
            <a:ext cx="3148430" cy="1706662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23627" y="0"/>
                </a:moveTo>
                <a:lnTo>
                  <a:pt x="3148430" y="0"/>
                </a:lnTo>
                <a:lnTo>
                  <a:pt x="3148430" y="1706662"/>
                </a:lnTo>
                <a:lnTo>
                  <a:pt x="0" y="1706662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50482" y="1911350"/>
            <a:ext cx="277041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Checkout Speed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50482" y="2332732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checkout times reduced from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minutes to seconds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QR scanning.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09905" y="1722338"/>
            <a:ext cx="3148430" cy="1706662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706662"/>
                </a:lnTo>
                <a:lnTo>
                  <a:pt x="0" y="1706662"/>
                </a:lnTo>
                <a:lnTo>
                  <a:pt x="0" y="0"/>
                </a:lnTo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3809905" y="1722338"/>
            <a:ext cx="25399" cy="1706662"/>
          </a:xfrm>
          <a:prstGeom prst="roundRect">
            <a:avLst>
              <a:gd name="adj" fmla="val 50001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998912" y="1911350"/>
            <a:ext cx="277041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Zero Paper Errors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998912" y="2332732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Completely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eliminates paper-logging errors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automated digital records.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1475" y="3429000"/>
            <a:ext cx="6296860" cy="1404243"/>
          </a:xfrm>
          <a:custGeom>
            <a:avLst/>
            <a:gdLst/>
            <a:ahLst/>
            <a:cxnLst/>
            <a:rect l="l" t="t" r="r" b="b"/>
            <a:pathLst>
              <a:path w="6296860" h="1404243">
                <a:moveTo>
                  <a:pt x="0" y="0"/>
                </a:moveTo>
                <a:lnTo>
                  <a:pt x="6296860" y="0"/>
                </a:lnTo>
                <a:lnTo>
                  <a:pt x="6296860" y="1380615"/>
                </a:lnTo>
                <a:arcTo wR="23627" hR="23628" stAng="0" swAng="5400000"/>
                <a:lnTo>
                  <a:pt x="23627" y="1404243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61475" y="3429000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50482" y="3618012"/>
            <a:ext cx="59188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Asset Protection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0482" y="4039394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Stops tool shrinkage and safeguards profit margins through </a:t>
            </a:r>
            <a:r>
              <a:rPr lang="en-US" sz="14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active deviation tracking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AA7A2-2C84-F6AD-E425-696CEB48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E02DB0-A0EA-AFB2-9482-982449D31504}"/>
              </a:ext>
            </a:extLst>
          </p:cNvPr>
          <p:cNvSpPr/>
          <p:nvPr/>
        </p:nvSpPr>
        <p:spPr>
          <a:xfrm>
            <a:off x="661474" y="306238"/>
            <a:ext cx="825823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Success metrics and expected impact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42B70C-E35A-F8DB-622B-8FDE931A8AB1}"/>
              </a:ext>
            </a:extLst>
          </p:cNvPr>
          <p:cNvSpPr/>
          <p:nvPr/>
        </p:nvSpPr>
        <p:spPr>
          <a:xfrm>
            <a:off x="661474" y="102386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will we measure the impact of Check-In-Obra?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8FEBD9-E1F1-C1BD-EF51-716A39F8E91E}"/>
              </a:ext>
            </a:extLst>
          </p:cNvPr>
          <p:cNvSpPr/>
          <p:nvPr/>
        </p:nvSpPr>
        <p:spPr>
          <a:xfrm>
            <a:off x="708115" y="1568582"/>
            <a:ext cx="4993945" cy="448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⏱️ Check-in/Check-out time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tool logging time by using QR codes.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-70% in logging time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💰 Operational savings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 time spent on manual logging and searching for information.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reduce operational costs associated with logging and tracking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📦 Losses and errors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traceability of tools that are loaned out, returned, or undergoing maintenance.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decrease losses and logging errors</a:t>
            </a:r>
            <a:endParaRPr lang="es-MX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771F59-00CD-C7A5-71A7-F9F5B2E29AC1}"/>
              </a:ext>
            </a:extLst>
          </p:cNvPr>
          <p:cNvSpPr/>
          <p:nvPr/>
        </p:nvSpPr>
        <p:spPr>
          <a:xfrm>
            <a:off x="3141827" y="6076925"/>
            <a:ext cx="59083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en-US" sz="1450" b="1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</a:t>
            </a:r>
            <a:r>
              <a:rPr lang="en-US" sz="1450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goals will be validated through pilot tests with company users.</a:t>
            </a:r>
            <a:endParaRPr lang="en-US" sz="1450" i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8A64C07-7872-FE9E-5523-1DAE77FCA69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C67396F0-B79B-DAF3-F975-F8F2A7D1B85C}"/>
              </a:ext>
            </a:extLst>
          </p:cNvPr>
          <p:cNvSpPr/>
          <p:nvPr/>
        </p:nvSpPr>
        <p:spPr>
          <a:xfrm>
            <a:off x="6223154" y="1475485"/>
            <a:ext cx="5908345" cy="448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👥 User adoption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interface to facilitate onboarding for workers and warehouse staff.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initial adaptation within ≤ 1 week.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 Budget control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actual consumption against the budget and detect variances in a timely manner.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identify variances before project closeout.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7277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130E-938A-184B-8890-C561DEFC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02FF1572-6E36-DB88-74EA-E9C2734603EB}"/>
              </a:ext>
            </a:extLst>
          </p:cNvPr>
          <p:cNvSpPr/>
          <p:nvPr/>
        </p:nvSpPr>
        <p:spPr>
          <a:xfrm>
            <a:off x="607306" y="1018093"/>
            <a:ext cx="9244060" cy="1630216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23627" y="0"/>
                </a:moveTo>
                <a:lnTo>
                  <a:pt x="3148430" y="0"/>
                </a:lnTo>
                <a:lnTo>
                  <a:pt x="3148430" y="1706662"/>
                </a:lnTo>
                <a:lnTo>
                  <a:pt x="0" y="1706662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AAA6675-8A18-BF51-393A-85A6186517CE}"/>
              </a:ext>
            </a:extLst>
          </p:cNvPr>
          <p:cNvSpPr/>
          <p:nvPr/>
        </p:nvSpPr>
        <p:spPr>
          <a:xfrm>
            <a:off x="661475" y="306238"/>
            <a:ext cx="378975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model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F582BD-E0C1-0CD3-ED4A-79CEF2EE931C}"/>
              </a:ext>
            </a:extLst>
          </p:cNvPr>
          <p:cNvSpPr/>
          <p:nvPr/>
        </p:nvSpPr>
        <p:spPr>
          <a:xfrm>
            <a:off x="661475" y="1076116"/>
            <a:ext cx="407442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💳 Is Check-In-Obra free or paid?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C11B40-05CF-881D-EB8D-A844EC9FF45F}"/>
              </a:ext>
            </a:extLst>
          </p:cNvPr>
          <p:cNvSpPr/>
          <p:nvPr/>
        </p:nvSpPr>
        <p:spPr>
          <a:xfrm>
            <a:off x="708116" y="1473693"/>
            <a:ext cx="7780276" cy="38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Check-In-Obra is positioned as a paid solution based on a SaaS (Software as a Service) model.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1A661B-1F4D-10C6-0E23-25B4855CE05E}"/>
              </a:ext>
            </a:extLst>
          </p:cNvPr>
          <p:cNvSpPr/>
          <p:nvPr/>
        </p:nvSpPr>
        <p:spPr>
          <a:xfrm>
            <a:off x="708116" y="3211712"/>
            <a:ext cx="4553997" cy="334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Access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 for workers and warehouse staff.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management of tools and materials.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Consumption and budget control.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Centralized, real-time information.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implementation.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training.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and maintenance.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updates.</a:t>
            </a:r>
            <a:endParaRPr lang="es-MX" sz="12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A75DB4A-BFCC-933B-3DAA-4FB1C62342CC}"/>
              </a:ext>
            </a:extLst>
          </p:cNvPr>
          <p:cNvSpPr/>
          <p:nvPr/>
        </p:nvSpPr>
        <p:spPr>
          <a:xfrm>
            <a:off x="708116" y="1855502"/>
            <a:ext cx="9341658" cy="66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construction company would contract the service to use the platform and receive updates, support, and maintenance.</a:t>
            </a:r>
            <a:endParaRPr lang="en-US" sz="14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2D6E60E-C931-8A12-F16C-710AC749C03F}"/>
              </a:ext>
            </a:extLst>
          </p:cNvPr>
          <p:cNvSpPr/>
          <p:nvPr/>
        </p:nvSpPr>
        <p:spPr>
          <a:xfrm>
            <a:off x="607306" y="28318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📦 </a:t>
            </a:r>
            <a:r>
              <a:rPr lang="es-MX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What's</a:t>
            </a: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s-MX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included</a:t>
            </a: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FD6AE6A-C826-199B-2BD7-C5996192D861}"/>
              </a:ext>
            </a:extLst>
          </p:cNvPr>
          <p:cNvSpPr/>
          <p:nvPr/>
        </p:nvSpPr>
        <p:spPr>
          <a:xfrm>
            <a:off x="5059993" y="3234390"/>
            <a:ext cx="3121176" cy="2876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Pricing Proposal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subscription per company or project, with a cost based on factors such as: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 of users.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 of active projects.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features.</a:t>
            </a:r>
            <a:endParaRPr lang="en-US" sz="14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A86C106-F89F-4367-CCDC-1520356FA9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480" y="6505526"/>
            <a:ext cx="162900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7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5949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Takeaways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376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376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61376" y="194026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Integrated Solution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61376" y="2348947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API + native Android app digitizing toolhouse, materials, and budget in one platform.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260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260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347260" y="194026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Enterprise Architecture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347260" y="2348947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21, Spring Boot, PostgreSQL 16, Flutter — built for scale, security, and reliability.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145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145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033145" y="194026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 Business Value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33145" y="2348947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Faster operations, zero paper errors, stopped asset loss, and protected profit margins.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376" y="3610514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83" y="3878206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624" y="384675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chemeClr val="bg2">
                    <a:lumMod val="25000"/>
                  </a:schemeClr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Check-In-Obra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replacing slow paper logbooks with automated digital records, protecting construction companies against asset loss.</a:t>
            </a:r>
            <a:endParaRPr lang="en-US" sz="145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A2CBDBA-ECE7-B02E-B8B4-1C1DAFC155C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5BF8-6953-E14F-CD00-5BFC7CF6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6A73D7-4259-96B7-6D44-A6150079EF63}"/>
              </a:ext>
            </a:extLst>
          </p:cNvPr>
          <p:cNvSpPr/>
          <p:nvPr/>
        </p:nvSpPr>
        <p:spPr>
          <a:xfrm>
            <a:off x="661475" y="368559"/>
            <a:ext cx="262519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77277B-23F6-C534-98EF-43DC232EB52A}"/>
              </a:ext>
            </a:extLst>
          </p:cNvPr>
          <p:cNvSpPr/>
          <p:nvPr/>
        </p:nvSpPr>
        <p:spPr>
          <a:xfrm>
            <a:off x="661474" y="1099536"/>
            <a:ext cx="80339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Check-In-Obra </a:t>
            </a:r>
            <a:r>
              <a:rPr lang="es-MX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transforms</a:t>
            </a: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s-MX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resource</a:t>
            </a: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s-MX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management</a:t>
            </a: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on </a:t>
            </a:r>
            <a:r>
              <a:rPr lang="es-MX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construction</a:t>
            </a: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sites.</a:t>
            </a:r>
            <a:endParaRPr lang="en-US" sz="1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AB5780-BEB8-0F49-CBDF-C5B5A822E3FC}"/>
              </a:ext>
            </a:extLst>
          </p:cNvPr>
          <p:cNvSpPr/>
          <p:nvPr/>
        </p:nvSpPr>
        <p:spPr>
          <a:xfrm>
            <a:off x="661475" y="1510903"/>
            <a:ext cx="56789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solution enables Constructora Nuevo Horizonte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transition from manual processes to digital, centralized, and traceable management of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its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tools, materials, and budgets.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25FC08B-7FA5-770E-2054-D80A9E37BBBD}"/>
              </a:ext>
            </a:extLst>
          </p:cNvPr>
          <p:cNvSpPr/>
          <p:nvPr/>
        </p:nvSpPr>
        <p:spPr>
          <a:xfrm>
            <a:off x="661475" y="2559836"/>
            <a:ext cx="3065136" cy="419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i="1" u="sng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 Check-In-Obra, we aim to: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9C1F375-74F3-7D99-B619-C7809289322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250D632-988C-4B0F-50E0-CDA03E3D5EFD}"/>
              </a:ext>
            </a:extLst>
          </p:cNvPr>
          <p:cNvSpPr/>
          <p:nvPr/>
        </p:nvSpPr>
        <p:spPr>
          <a:xfrm>
            <a:off x="661475" y="2840806"/>
            <a:ext cx="4540523" cy="1924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registration and management times.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control over tools and materials.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real-time information for decision-making.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variances and reduce resource losses.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Facilitate adoption through a simple app and initial training.</a:t>
            </a:r>
            <a:endParaRPr lang="en-US" sz="1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C4177A4-B91B-9DC9-C0C7-C4B7F4DEE809}"/>
              </a:ext>
            </a:extLst>
          </p:cNvPr>
          <p:cNvSpPr/>
          <p:nvPr/>
        </p:nvSpPr>
        <p:spPr>
          <a:xfrm>
            <a:off x="5694219" y="2534251"/>
            <a:ext cx="3501539" cy="151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50" i="1" u="sng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proposition: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 time spent on record-keeping.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Greater control over resources.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Better decisions for the project.</a:t>
            </a:r>
            <a:endParaRPr lang="en-US" sz="14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5D602A79-9E0F-8084-7FDE-847E097424D2}"/>
              </a:ext>
            </a:extLst>
          </p:cNvPr>
          <p:cNvSpPr/>
          <p:nvPr/>
        </p:nvSpPr>
        <p:spPr>
          <a:xfrm>
            <a:off x="575211" y="5046477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98AE4E7-A6C0-D08A-14DA-F27B93829AB0}"/>
              </a:ext>
            </a:extLst>
          </p:cNvPr>
          <p:cNvSpPr/>
          <p:nvPr/>
        </p:nvSpPr>
        <p:spPr>
          <a:xfrm>
            <a:off x="1137700" y="527324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Check-In-Obra aims not only to digitize a process but also to provide the company with a tool that generates operational and economic value.</a:t>
            </a: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D0C72C48-1C8E-A974-0B4E-542ED56E5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76" y="5348463"/>
            <a:ext cx="236234" cy="1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3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1004</Words>
  <Application>Microsoft Office PowerPoint</Application>
  <PresentationFormat>Panorámica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Open Sans Bold</vt:lpstr>
      <vt:lpstr>Twemoji Mozilla</vt:lpstr>
      <vt:lpstr>Playfair Display</vt:lpstr>
      <vt:lpstr>Arial</vt:lpstr>
      <vt:lpstr>Open Sans</vt:lpstr>
      <vt:lpstr>Playfair Display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Elizabeth</dc:creator>
  <cp:lastModifiedBy>ELIZABETH . SOTO CONCHA</cp:lastModifiedBy>
  <cp:revision>9</cp:revision>
  <dcterms:created xsi:type="dcterms:W3CDTF">2026-09-06T22:26:12Z</dcterms:created>
  <dcterms:modified xsi:type="dcterms:W3CDTF">2026-09-07T04:38:24Z</dcterms:modified>
</cp:coreProperties>
</file>