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5" r:id="rId15"/>
    <p:sldId id="269" r:id="rId16"/>
  </p:sldIdLst>
  <p:sldSz cx="12192000" cy="6858000"/>
  <p:notesSz cx="6858000" cy="12192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Bold" panose="020B0806030504020204" charset="0"/>
      <p:regular r:id="rId22"/>
    </p:embeddedFont>
    <p:embeddedFont>
      <p:font typeface="Playfair Display" panose="00000500000000000000" pitchFamily="2" charset="0"/>
      <p:regular r:id="rId23"/>
      <p:bold r:id="rId24"/>
      <p:italic r:id="rId25"/>
      <p:boldItalic r:id="rId26"/>
    </p:embeddedFont>
    <p:embeddedFont>
      <p:font typeface="Playfair Display Bold" panose="00000800000000000000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88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D2368-045F-4FA5-8E81-2A8971FA2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C9D5D-BB57-B0E4-A21F-67EDC3FC2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85055-21A5-B781-4E80-1578A8A26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8C065-882F-5492-BE55-6361854C0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46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DF98A-0670-E3ED-ED63-72E63A14F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DB8C9-7CBC-CF4A-9F4A-BAD1DCB62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22D59-1D4E-EAA5-A5A4-4AED14F17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C0830-63AE-D267-C871-F3E474E0C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65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DF35B-3D67-EE69-4B52-2BC6E8A2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BD939-4276-EC57-FF79-3170F8BEA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13DE6-3F4F-EAAF-3DA9-3225F6D44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386B1-1137-345D-C86F-D001DA7EE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77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2F4B1-F746-410A-3B62-388A26DE5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40174-6E52-7891-5D38-320F778F1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D031A-0A96-0586-ACA6-A70CA72CC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2929A-BD1A-90CF-B013-4F7DE7420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47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9AD25-94C3-0E03-0F86-E8D6A20C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8408E-58B9-73DE-F598-C0EAD3E8F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94843-2873-A427-8756-417FFDBF5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2C5A2-454A-D7F6-ECDF-A7EFAC74D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37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25356" y="3306680"/>
            <a:ext cx="470427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</a:rPr>
              <a:t>Capstone Proyecto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627078" y="4555612"/>
            <a:ext cx="1903141" cy="1271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b="1" i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Integrantes</a:t>
            </a:r>
            <a:r>
              <a:rPr lang="en-US" sz="145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r>
              <a:rPr lang="en-US" sz="14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</a:p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Bryan Moscoso</a:t>
            </a:r>
          </a:p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Juan </a:t>
            </a:r>
            <a:r>
              <a:rPr lang="en-US" sz="145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Cuevas</a:t>
            </a:r>
            <a:b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Elizabeth Soto 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978486" y="4082901"/>
            <a:ext cx="2563658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7" name="Text 4"/>
          <p:cNvSpPr/>
          <p:nvPr/>
        </p:nvSpPr>
        <p:spPr>
          <a:xfrm>
            <a:off x="9091891" y="4139555"/>
            <a:ext cx="38957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CHECK-IN-OBRA – SECCIÓN: 008V</a:t>
            </a:r>
            <a:endParaRPr lang="en-US" sz="11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825D32B-0A80-6745-B081-3A265638E4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283F7A8-BB98-5332-A055-409E18B92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724" y="188022"/>
            <a:ext cx="4246924" cy="29330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58F5-EADD-CA73-D259-C38DF098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03461E7-E601-E9E3-12F9-7B9DBE7BA1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C2F8B7D-AADF-306B-AB28-7E6EB514C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D130520-6FC7-A3A6-FE9D-FE8769FB0B1C}"/>
              </a:ext>
            </a:extLst>
          </p:cNvPr>
          <p:cNvSpPr/>
          <p:nvPr/>
        </p:nvSpPr>
        <p:spPr>
          <a:xfrm>
            <a:off x="5233360" y="228838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u="sng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Check-In-Obra</a:t>
            </a:r>
            <a:endParaRPr lang="en-US" sz="3700" u="sng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28780C5-1B45-C218-DB3A-ED03F8B43183}"/>
              </a:ext>
            </a:extLst>
          </p:cNvPr>
          <p:cNvSpPr/>
          <p:nvPr/>
        </p:nvSpPr>
        <p:spPr>
          <a:xfrm>
            <a:off x="5233359" y="3162498"/>
            <a:ext cx="6429553" cy="1176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solución de software empresarial integrada que digitaliza el seguimiento de las herramientas en obra, automatiza los cálculos de cantidades de materiales y controla los ciclos de vida del presupuesto de construcción en tiempo real.</a:t>
            </a:r>
            <a:endParaRPr lang="en-US"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57D2CFE-19B8-0809-A63D-9AB05F43602B}"/>
              </a:ext>
            </a:extLst>
          </p:cNvPr>
          <p:cNvSpPr/>
          <p:nvPr/>
        </p:nvSpPr>
        <p:spPr>
          <a:xfrm>
            <a:off x="5233360" y="4425949"/>
            <a:ext cx="3512950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B359BD-6376-AB4E-44E7-35BF038B0E45}"/>
              </a:ext>
            </a:extLst>
          </p:cNvPr>
          <p:cNvSpPr/>
          <p:nvPr/>
        </p:nvSpPr>
        <p:spPr>
          <a:xfrm>
            <a:off x="5346765" y="4482603"/>
            <a:ext cx="389572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s-MX" sz="1150" u="sng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PROYECTO FINAL DE INGENIERÍA INFORMÁTICA</a:t>
            </a:r>
            <a:endParaRPr lang="en-US" sz="1150" u="sng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9CFCD16-3D8F-6BE2-1DDB-F5A90F787D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1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EBCE67E5-7C41-5427-E775-209F864F49B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19759" y="-49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37049"/>
            <a:ext cx="543452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¿</a:t>
            </a: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Qué</a:t>
            </a: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es Check-In-Obra?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75" y="1734989"/>
            <a:ext cx="3148381" cy="1693962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850482" y="1924000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RESTful Backend API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55623" y="2238177"/>
            <a:ext cx="3148381" cy="1285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Servidor de nivel empresarial que gestiona toda la lógica de negocio y las operaciones de datos.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8" y="1734989"/>
            <a:ext cx="3540237" cy="1693962"/>
          </a:xfrm>
          <a:prstGeom prst="roundRect">
            <a:avLst>
              <a:gd name="adj" fmla="val 1674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3995634" y="1874586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Aplicación</a:t>
            </a: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nativa</a:t>
            </a: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para Android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2238177"/>
            <a:ext cx="279051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Aplicación móvil para uso en el lugar de trabajo, destinada a los encargados de almacén y a los trabajadores de planta.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3617962"/>
            <a:ext cx="6783120" cy="139154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850482" y="3806974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Digitalización</a:t>
            </a: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</a:t>
            </a: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tiempo</a:t>
            </a: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real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4215656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Reemplaza los registros en papel por registros digitales automatizados y alertas instantáneas.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913"/>
            <a:ext cx="646394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Quién lo creó y a quién ayuda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10184"/>
            <a:ext cx="3660359" cy="5040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2" y="1693823"/>
            <a:ext cx="1293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El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equipo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627256" y="204539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Desarrollado por un equipo de tres ingenieros en informática bajo el marco ágil Scrum.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33202" y="2870423"/>
            <a:ext cx="21471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quiénes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se dirige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627255" y="3233738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50" b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Trabajadores de obra: </a:t>
            </a:r>
            <a:r>
              <a:rPr lang="es-MX" sz="145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entrega más rápida de herramientas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50" b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Encargados de almacén: </a:t>
            </a:r>
            <a:r>
              <a:rPr lang="es-MX" sz="145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gestión digital del inventario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50" b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Gerentes de obra: </a:t>
            </a:r>
            <a:r>
              <a:rPr lang="es-MX" sz="145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visibilidad en tiempo real de los costos y los activos</a:t>
            </a:r>
            <a:endParaRPr lang="en-US" sz="145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6A925E4-BD29-E24F-A132-E53BFDEDD1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7EE67-07C6-0221-FF84-A8876A01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6DE548-6EEA-F165-9EB8-B9B66A546898}"/>
              </a:ext>
            </a:extLst>
          </p:cNvPr>
          <p:cNvSpPr/>
          <p:nvPr/>
        </p:nvSpPr>
        <p:spPr>
          <a:xfrm>
            <a:off x="362311" y="360520"/>
            <a:ext cx="11662912" cy="73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Empresa </a:t>
            </a: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objetivo</a:t>
            </a: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–</a:t>
            </a:r>
            <a:r>
              <a:rPr lang="en-US" sz="3700" b="1" u="sng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Constructora Nuevo Horizonte </a:t>
            </a:r>
            <a:r>
              <a:rPr lang="en-US" sz="3700" b="1" u="sng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SpA</a:t>
            </a:r>
            <a:endParaRPr lang="en-US" sz="3700" u="sng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9D7A948-FFE2-136C-6041-38FEF3143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1" y="1092279"/>
            <a:ext cx="3504219" cy="495483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3906E95-0F4C-5CE2-3C22-C9050BFB3B7E}"/>
              </a:ext>
            </a:extLst>
          </p:cNvPr>
          <p:cNvSpPr/>
          <p:nvPr/>
        </p:nvSpPr>
        <p:spPr>
          <a:xfrm>
            <a:off x="4426599" y="1477317"/>
            <a:ext cx="20863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Necesidades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clave: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0B399ED-B877-EA5B-93E2-66440786A3DD}"/>
              </a:ext>
            </a:extLst>
          </p:cNvPr>
          <p:cNvSpPr/>
          <p:nvPr/>
        </p:nvSpPr>
        <p:spPr>
          <a:xfrm>
            <a:off x="4426597" y="1858612"/>
            <a:ext cx="5614549" cy="1747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Digitalizar el registro de herramientas y materiales.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Monitorear el estado de los recursos en tiempo real.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Reducir los errores asociados con el registro manual.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Detectar pérdidas y variaciones en el consumo.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Mejorar el control sobre los presupuestos de los proyectos de construcción.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9D80029-4CC9-E872-1C94-3125F3D1BE51}"/>
              </a:ext>
            </a:extLst>
          </p:cNvPr>
          <p:cNvSpPr/>
          <p:nvPr/>
        </p:nvSpPr>
        <p:spPr>
          <a:xfrm>
            <a:off x="4426597" y="3634971"/>
            <a:ext cx="3112889" cy="32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¿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Quién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utilizará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la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solución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?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B56020-DA2F-AA9F-EE9A-1E2923AE45C9}"/>
              </a:ext>
            </a:extLst>
          </p:cNvPr>
          <p:cNvSpPr/>
          <p:nvPr/>
        </p:nvSpPr>
        <p:spPr>
          <a:xfrm>
            <a:off x="4426597" y="4044313"/>
            <a:ext cx="5614549" cy="1434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Trabajadores → Solicitudes y devoluciones de herramientas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Personal de almacén → Seguimiento de inventario y préstamos mediante códigos QR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Gerentes de obra → Supervisión de recursos y costos</a:t>
            </a:r>
          </a:p>
          <a:p>
            <a:pPr marL="294640" indent="-294640">
              <a:lnSpc>
                <a:spcPct val="133000"/>
              </a:lnSpc>
              <a:buSzPct val="100000"/>
              <a:buChar char="•"/>
            </a:pPr>
            <a:r>
              <a:rPr lang="es-MX" sz="14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Administración → Datos para la toma de decisiones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007430C-7507-7858-C172-761129AE425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6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1142802"/>
            <a:ext cx="471278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Arquitectura</a:t>
            </a: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técnica</a:t>
            </a:r>
            <a:endParaRPr lang="en-US" sz="3700" b="1" dirty="0">
              <a:solidFill>
                <a:schemeClr val="bg2">
                  <a:lumMod val="25000"/>
                </a:schemeClr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69" y="2111474"/>
            <a:ext cx="10740756" cy="308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8638" y="2333654"/>
            <a:ext cx="23258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Backend</a:t>
            </a:r>
            <a:endParaRPr lang="en-US" sz="1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578638" y="2726291"/>
            <a:ext cx="2325876" cy="48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 21, Spring Boot 4.1.1, PostgreSQL 16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84699" y="3061867"/>
            <a:ext cx="2325876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API Layer</a:t>
            </a:r>
            <a:endParaRPr lang="en-US" sz="1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884699" y="3454504"/>
            <a:ext cx="2325876" cy="48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RESTful endpoints, multi-tenant isolation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0866" y="3898768"/>
            <a:ext cx="23258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Mobile Client</a:t>
            </a:r>
            <a:endParaRPr lang="en-US" sz="19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980866" y="4291405"/>
            <a:ext cx="2325876" cy="489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04000"/>
              </a:lnSpc>
            </a:pPr>
            <a:r>
              <a:rPr lang="es-MX" sz="15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Flutter</a:t>
            </a:r>
            <a:r>
              <a:rPr lang="es-MX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3.47.1, gestión de estado con </a:t>
            </a:r>
            <a:r>
              <a:rPr lang="es-MX" sz="15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Riverpod</a:t>
            </a:r>
            <a:r>
              <a:rPr lang="es-MX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Dio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5412780"/>
            <a:ext cx="10949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Arquitectura segura y escalable que permite gestionar múltiples proyectos de construcción manteniendo sus datos separados.</a:t>
            </a:r>
            <a:endParaRPr lang="en-US" sz="1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F447387-F4F9-2D5B-85E3-C1F5C368F3B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6396AB1-CF4A-7119-4AA5-4D338FD13650}"/>
              </a:ext>
            </a:extLst>
          </p:cNvPr>
          <p:cNvSpPr txBox="1"/>
          <p:nvPr/>
        </p:nvSpPr>
        <p:spPr>
          <a:xfrm>
            <a:off x="7159925" y="3968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AAB5F3F9-FFE3-41B8-DA3E-D0698EF84AE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14263" y="0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934" y="303146"/>
            <a:ext cx="6952891" cy="123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¿De qué manera mejora el trabajo</a:t>
            </a:r>
          </a:p>
          <a:p>
            <a:pPr>
              <a:lnSpc>
                <a:spcPct val="104000"/>
              </a:lnSpc>
            </a:pPr>
            <a:r>
              <a:rPr lang="es-MX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en la obra?</a:t>
            </a:r>
            <a:endParaRPr lang="en-US" sz="3700" dirty="0">
              <a:solidFill>
                <a:schemeClr val="bg2">
                  <a:lumMod val="25000"/>
                </a:schemeClr>
              </a:solidFill>
              <a:highlight>
                <a:srgbClr val="FF0000"/>
              </a:highlight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870373"/>
            <a:ext cx="378014" cy="378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193526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Escaneo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códigos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QR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1275722" y="2343944"/>
            <a:ext cx="6249533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encargados de almacén escanean los códigos QR de las herramientas y las identificaciones de los trabajadores para registrar los envíos y las devoluciones en segundos.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26805"/>
            <a:ext cx="378014" cy="37802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Estados del inventario en tiempo real</a:t>
            </a:r>
          </a:p>
        </p:txBody>
      </p:sp>
      <p:sp>
        <p:nvSpPr>
          <p:cNvPr id="10" name="Text 5"/>
          <p:cNvSpPr/>
          <p:nvPr/>
        </p:nvSpPr>
        <p:spPr>
          <a:xfrm>
            <a:off x="1275723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estado de las herramientas se registra en todo momento como </a:t>
            </a:r>
            <a:r>
              <a:rPr lang="es-MX" sz="14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DISPONIBLE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s-MX" sz="14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PRESTADA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</a:t>
            </a:r>
            <a:r>
              <a:rPr lang="es-MX" sz="14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s-MX" sz="14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MANTENIMIENTO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83237"/>
            <a:ext cx="378014" cy="378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5723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Alertas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 fin de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turno</a:t>
            </a:r>
            <a:endParaRPr lang="en-US" sz="1850" b="1" dirty="0">
              <a:solidFill>
                <a:schemeClr val="bg2">
                  <a:lumMod val="25000"/>
                </a:schemeClr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275723" y="525680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alertas automáticas se activan de inmediato cuando las herramientas no se devuelven antes de que termine el turno.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0985"/>
            <a:ext cx="476454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Control de </a:t>
            </a: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materiales</a:t>
            </a:r>
            <a:endParaRPr lang="en-US" sz="3700" dirty="0">
              <a:solidFill>
                <a:schemeClr val="bg2">
                  <a:lumMod val="25000"/>
                </a:schemeClr>
              </a:solidFill>
              <a:highlight>
                <a:srgbClr val="FF00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705345"/>
            <a:ext cx="28667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Cálculos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paramétricos</a:t>
            </a:r>
            <a:endParaRPr lang="en-US" sz="1850" b="1" dirty="0">
              <a:solidFill>
                <a:schemeClr val="bg2">
                  <a:lumMod val="25000"/>
                </a:schemeClr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151013"/>
            <a:ext cx="5169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Automatizamos los cálculos que actualmente se realizan de manera manual, lo que reduce los errores y el tiempo dedicado a tareas administrativas.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4" y="3228870"/>
            <a:ext cx="34878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Importaciones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 Atomic Excel</a:t>
            </a:r>
          </a:p>
        </p:txBody>
      </p:sp>
      <p:sp>
        <p:nvSpPr>
          <p:cNvPr id="6" name="Text 4"/>
          <p:cNvSpPr/>
          <p:nvPr/>
        </p:nvSpPr>
        <p:spPr>
          <a:xfrm>
            <a:off x="661474" y="3655437"/>
            <a:ext cx="5434526" cy="136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Admite la importación de datos estructurados a través de Apache POI, lo que permite la ingesta masiva de datos de materiales y presupuestos con validación completa.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395" y="544872"/>
            <a:ext cx="4462811" cy="53679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46CC21F-020E-B6FF-8B9F-C33EB0AA619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76" y="830486"/>
            <a:ext cx="1142423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Máquina de estados del ciclo de vida del presupuesto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25922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770981"/>
            <a:ext cx="151315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BORRADOR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850481" y="3179662"/>
            <a:ext cx="3433875" cy="1006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han ingresado los precios de referencia; están listos para ser editados.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825922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2770981"/>
            <a:ext cx="17980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APROBADO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179663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presupuesto ha sido validado y bloqueado para su ejecución.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825922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2770981"/>
            <a:ext cx="19276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CONGELADO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179663"/>
            <a:ext cx="3244868" cy="111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precios de los contratos son inalterables; se ha habilitado el seguimiento activo de desviaciones.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61475" y="418613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máquina de estados inmutable fija los precios base del contrato y compara el consumo real con el presupuesto mientras la obra está en marcha, lo que protege los márgenes de utilidad del proyecto.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300C6AC-11BB-30A4-8C3B-8487FF8EEA6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4539143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Seguridad y pruebas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54560"/>
            <a:ext cx="2175019" cy="3022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68972"/>
            <a:ext cx="16446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Multi-Tenant Isolation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77479" y="3348534"/>
            <a:ext cx="16446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Separación estricta entre inquilinos: el acceso no autorizado entre inquilinos devuelve un error HTTP 404.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5501" y="2354560"/>
            <a:ext cx="2175118" cy="30228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41505" y="2568972"/>
            <a:ext cx="1748080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Migraciones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 bases de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datos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3341505" y="3348534"/>
            <a:ext cx="1748080" cy="19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de versiones de esquemas gestionado por </a:t>
            </a:r>
            <a:r>
              <a:rPr lang="es-MX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Flyway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 PostgreSQL 16.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9626" y="2354560"/>
            <a:ext cx="2175118" cy="30228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05630" y="2568972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Cobertura</a:t>
            </a: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 </a:t>
            </a:r>
          </a:p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pruebas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705630" y="3237707"/>
            <a:ext cx="1644708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backend se probó con </a:t>
            </a:r>
            <a:r>
              <a:rPr lang="es-MX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JUnit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5; la capa móvil se validó con </a:t>
            </a:r>
            <a:r>
              <a:rPr lang="es-MX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flutter_test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DFC1635-BB3E-08BA-F387-4956A2806D1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45638069-ECB2-E9A1-2780-0DE02CBC659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631815" y="1209"/>
            <a:ext cx="4571886" cy="6858000"/>
          </a:xfrm>
          <a:prstGeom prst="rect">
            <a:avLst/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8553"/>
            <a:ext cx="389871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Impacto </a:t>
            </a: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previsto</a:t>
            </a:r>
            <a:endParaRPr lang="en-US" sz="3700" dirty="0">
              <a:solidFill>
                <a:schemeClr val="bg2">
                  <a:lumMod val="25000"/>
                </a:schemeClr>
              </a:solidFill>
              <a:highlight>
                <a:srgbClr val="FF0000"/>
              </a:highlight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75" y="1722338"/>
            <a:ext cx="6296860" cy="3110905"/>
          </a:xfrm>
          <a:prstGeom prst="roundRect">
            <a:avLst>
              <a:gd name="adj" fmla="val 91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661475" y="1722338"/>
            <a:ext cx="3148430" cy="1706662"/>
          </a:xfrm>
          <a:custGeom>
            <a:avLst/>
            <a:gdLst/>
            <a:ahLst/>
            <a:cxnLst/>
            <a:rect l="l" t="t" r="r" b="b"/>
            <a:pathLst>
              <a:path w="3148430" h="1706662">
                <a:moveTo>
                  <a:pt x="23627" y="0"/>
                </a:moveTo>
                <a:lnTo>
                  <a:pt x="3148430" y="0"/>
                </a:lnTo>
                <a:lnTo>
                  <a:pt x="3148430" y="1706662"/>
                </a:lnTo>
                <a:lnTo>
                  <a:pt x="0" y="1706662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755595" y="1911350"/>
            <a:ext cx="277041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Velocidad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del proceso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pago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55594" y="2521694"/>
            <a:ext cx="3079709" cy="1096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tiempos de préstamo de herramientas se </a:t>
            </a:r>
            <a:r>
              <a:rPr lang="es-MX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reduciran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minutos a segundos gracias al escaneo de códigos QR.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46297" y="1722338"/>
            <a:ext cx="3148430" cy="1706662"/>
          </a:xfrm>
          <a:custGeom>
            <a:avLst/>
            <a:gdLst/>
            <a:ahLst/>
            <a:cxnLst/>
            <a:rect l="l" t="t" r="r" b="b"/>
            <a:pathLst>
              <a:path w="3148430" h="1706662">
                <a:moveTo>
                  <a:pt x="0" y="0"/>
                </a:moveTo>
                <a:lnTo>
                  <a:pt x="3124803" y="0"/>
                </a:lnTo>
                <a:arcTo wR="23627" hR="23628" stAng="16200000" swAng="5400000"/>
                <a:lnTo>
                  <a:pt x="3148430" y="1706662"/>
                </a:lnTo>
                <a:lnTo>
                  <a:pt x="0" y="1706662"/>
                </a:lnTo>
                <a:lnTo>
                  <a:pt x="0" y="0"/>
                </a:lnTo>
                <a:close/>
              </a:path>
            </a:pathLst>
          </a:cu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3809905" y="1722338"/>
            <a:ext cx="45719" cy="2305198"/>
          </a:xfrm>
          <a:prstGeom prst="roundRect">
            <a:avLst>
              <a:gd name="adj" fmla="val 50001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3998912" y="1911350"/>
            <a:ext cx="277041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Cero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errores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documentos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impresos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3998912" y="2509886"/>
            <a:ext cx="2890702" cy="1404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Eliminación por completo de los errores en el registro en papel gracias a los registros digitales automatizados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6874" y="4002136"/>
            <a:ext cx="6296860" cy="1404243"/>
          </a:xfrm>
          <a:custGeom>
            <a:avLst/>
            <a:gdLst/>
            <a:ahLst/>
            <a:cxnLst/>
            <a:rect l="l" t="t" r="r" b="b"/>
            <a:pathLst>
              <a:path w="6296860" h="1404243">
                <a:moveTo>
                  <a:pt x="0" y="0"/>
                </a:moveTo>
                <a:lnTo>
                  <a:pt x="6296860" y="0"/>
                </a:lnTo>
                <a:lnTo>
                  <a:pt x="6296860" y="1380615"/>
                </a:lnTo>
                <a:arcTo wR="23627" hR="23628" stAng="0" swAng="5400000"/>
                <a:lnTo>
                  <a:pt x="23627" y="1404243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686874" y="4002136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C6C6D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875881" y="4191148"/>
            <a:ext cx="591884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Protección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activos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875881" y="4612530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Evitar la merma de herramientas y proteger los márgenes de ganancia mediante un seguimiento activo de las desviaciones.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AA7A2-2C84-F6AD-E425-696CEB48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E02DB0-A0EA-AFB2-9482-982449D31504}"/>
              </a:ext>
            </a:extLst>
          </p:cNvPr>
          <p:cNvSpPr/>
          <p:nvPr/>
        </p:nvSpPr>
        <p:spPr>
          <a:xfrm>
            <a:off x="661474" y="306238"/>
            <a:ext cx="825823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Métricas</a:t>
            </a: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de </a:t>
            </a: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éxito</a:t>
            </a: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e </a:t>
            </a: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impacto</a:t>
            </a: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esperado</a:t>
            </a:r>
            <a:endParaRPr lang="en-US" sz="3700" dirty="0">
              <a:solidFill>
                <a:schemeClr val="bg2">
                  <a:lumMod val="25000"/>
                </a:schemeClr>
              </a:solidFill>
              <a:highlight>
                <a:srgbClr val="FF0000"/>
              </a:highlight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42B70C-E35A-F8DB-622B-8FDE931A8AB1}"/>
              </a:ext>
            </a:extLst>
          </p:cNvPr>
          <p:cNvSpPr/>
          <p:nvPr/>
        </p:nvSpPr>
        <p:spPr>
          <a:xfrm>
            <a:off x="661474" y="1023869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¿Cómo mediremos el impacto de Check-In-Obra?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8FEBD9-E1F1-C1BD-EF51-716A39F8E91E}"/>
              </a:ext>
            </a:extLst>
          </p:cNvPr>
          <p:cNvSpPr/>
          <p:nvPr/>
        </p:nvSpPr>
        <p:spPr>
          <a:xfrm>
            <a:off x="708115" y="1568582"/>
            <a:ext cx="4993945" cy="448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⏱️ Horario de entrada y salida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el tiempo de registro de herramientas mediante el uso de códigos QR.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Meta: -70 % en el tiempo de registro</a:t>
            </a:r>
          </a:p>
          <a:p>
            <a:pPr>
              <a:lnSpc>
                <a:spcPct val="133000"/>
              </a:lnSpc>
            </a:pPr>
            <a:endParaRPr lang="es-MX" sz="1400" b="1" dirty="0">
              <a:solidFill>
                <a:schemeClr val="bg2">
                  <a:lumMod val="25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3000"/>
              </a:lnSpc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💰 Ahorros operativos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Menos tiempo dedicado al registro manual y a la búsqueda de información.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 reducir los costos operativos asociados con el registro y el seguimiento</a:t>
            </a:r>
          </a:p>
          <a:p>
            <a:pPr>
              <a:lnSpc>
                <a:spcPct val="133000"/>
              </a:lnSpc>
            </a:pPr>
            <a:endParaRPr lang="es-MX" sz="1400" b="1" dirty="0">
              <a:solidFill>
                <a:schemeClr val="bg2">
                  <a:lumMod val="25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3000"/>
              </a:lnSpc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📦 Pérdidas y errores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 trazabilidad de las herramientas que se prestan, se devuelven o están en mantenimiento.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 disminuir las pérdidas y los errores de registro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771F59-00CD-C7A5-71A7-F9F5B2E29AC1}"/>
              </a:ext>
            </a:extLst>
          </p:cNvPr>
          <p:cNvSpPr/>
          <p:nvPr/>
        </p:nvSpPr>
        <p:spPr>
          <a:xfrm>
            <a:off x="1926034" y="6203107"/>
            <a:ext cx="833993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33000"/>
              </a:lnSpc>
            </a:pPr>
            <a:r>
              <a:rPr lang="es-MX" sz="1450" b="1" i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Nota: </a:t>
            </a:r>
            <a:r>
              <a:rPr lang="es-MX" sz="1450" i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objetivos se validarán mediante pruebas piloto con usuarios de la empresa.</a:t>
            </a:r>
            <a:endParaRPr lang="en-US" sz="1450" i="1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8A64C07-7872-FE9E-5523-1DAE77FCA69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C67396F0-B79B-DAF3-F975-F8F2A7D1B85C}"/>
              </a:ext>
            </a:extLst>
          </p:cNvPr>
          <p:cNvSpPr/>
          <p:nvPr/>
        </p:nvSpPr>
        <p:spPr>
          <a:xfrm>
            <a:off x="6223154" y="1475485"/>
            <a:ext cx="5908345" cy="448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👥 Adopción por parte de los usuarios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Interfaz sencilla para facilitar la incorporación de los trabajadores y el personal de almacén.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 adaptación inicial en un plazo de ≤ 1 semana.</a:t>
            </a:r>
          </a:p>
          <a:p>
            <a:pPr>
              <a:lnSpc>
                <a:spcPct val="133000"/>
              </a:lnSpc>
            </a:pPr>
            <a:endParaRPr lang="es-MX" sz="1400" b="1" dirty="0">
              <a:solidFill>
                <a:schemeClr val="bg2">
                  <a:lumMod val="25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3000"/>
              </a:lnSpc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📈 Control presupuestario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Comparar el consumo real con el presupuesto y detectar desviaciones de manera oportuna.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 identificar desviaciones antes del cierre del proyecto.</a:t>
            </a:r>
          </a:p>
        </p:txBody>
      </p:sp>
    </p:spTree>
    <p:extLst>
      <p:ext uri="{BB962C8B-B14F-4D97-AF65-F5344CB8AC3E}">
        <p14:creationId xmlns:p14="http://schemas.microsoft.com/office/powerpoint/2010/main" val="717277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130E-938A-184B-8890-C561DEFC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02FF1572-6E36-DB88-74EA-E9C2734603EB}"/>
              </a:ext>
            </a:extLst>
          </p:cNvPr>
          <p:cNvSpPr/>
          <p:nvPr/>
        </p:nvSpPr>
        <p:spPr>
          <a:xfrm>
            <a:off x="607306" y="1018093"/>
            <a:ext cx="9244060" cy="1630216"/>
          </a:xfrm>
          <a:custGeom>
            <a:avLst/>
            <a:gdLst/>
            <a:ahLst/>
            <a:cxnLst/>
            <a:rect l="l" t="t" r="r" b="b"/>
            <a:pathLst>
              <a:path w="3148430" h="1706662">
                <a:moveTo>
                  <a:pt x="23627" y="0"/>
                </a:moveTo>
                <a:lnTo>
                  <a:pt x="3148430" y="0"/>
                </a:lnTo>
                <a:lnTo>
                  <a:pt x="3148430" y="1706662"/>
                </a:lnTo>
                <a:lnTo>
                  <a:pt x="0" y="1706662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E0E0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AAA6675-8A18-BF51-393A-85A6186517CE}"/>
              </a:ext>
            </a:extLst>
          </p:cNvPr>
          <p:cNvSpPr/>
          <p:nvPr/>
        </p:nvSpPr>
        <p:spPr>
          <a:xfrm>
            <a:off x="661475" y="306238"/>
            <a:ext cx="439851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Modelo de </a:t>
            </a: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negocio</a:t>
            </a:r>
            <a:endParaRPr lang="en-US" sz="3700" b="1" dirty="0">
              <a:solidFill>
                <a:schemeClr val="bg2">
                  <a:lumMod val="25000"/>
                </a:schemeClr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F582BD-E0C1-0CD3-ED4A-79CEF2EE931C}"/>
              </a:ext>
            </a:extLst>
          </p:cNvPr>
          <p:cNvSpPr/>
          <p:nvPr/>
        </p:nvSpPr>
        <p:spPr>
          <a:xfrm>
            <a:off x="661475" y="1076116"/>
            <a:ext cx="4686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💳 ¿Check-In-Obra es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gratuito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o de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pago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?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C11B40-05CF-881D-EB8D-A844EC9FF45F}"/>
              </a:ext>
            </a:extLst>
          </p:cNvPr>
          <p:cNvSpPr/>
          <p:nvPr/>
        </p:nvSpPr>
        <p:spPr>
          <a:xfrm>
            <a:off x="708116" y="1473693"/>
            <a:ext cx="9143250" cy="381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Check-In-Obra se posiciona como una solución de pago basada en un modelo SaaS (Software como servicio).</a:t>
            </a:r>
            <a:endParaRPr lang="en-US" sz="140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1A661B-1F4D-10C6-0E23-25B4855CE05E}"/>
              </a:ext>
            </a:extLst>
          </p:cNvPr>
          <p:cNvSpPr/>
          <p:nvPr/>
        </p:nvSpPr>
        <p:spPr>
          <a:xfrm>
            <a:off x="708116" y="3211712"/>
            <a:ext cx="4553997" cy="334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33000"/>
              </a:lnSpc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Acceso a la plataforma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Aplicación móvil para trabajadores y personal de almacén.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digital de herramientas y materiales.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de consumo y presupuesto.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Información centralizada y en tiempo real.</a:t>
            </a:r>
          </a:p>
          <a:p>
            <a:pPr>
              <a:lnSpc>
                <a:spcPct val="133000"/>
              </a:lnSpc>
            </a:pPr>
            <a:endParaRPr lang="es-MX" sz="1400" b="1" dirty="0">
              <a:solidFill>
                <a:schemeClr val="bg2">
                  <a:lumMod val="25000"/>
                </a:schemeClr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>
              <a:lnSpc>
                <a:spcPct val="133000"/>
              </a:lnSpc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Servicio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Implementación inicial.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Capacitación de usuarios.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Soporte y mantenimiento.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Actualizaciones del sistema.</a:t>
            </a:r>
            <a:endParaRPr lang="es-MX" sz="120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AA75DB4A-BFCC-933B-3DAA-4FB1C62342CC}"/>
              </a:ext>
            </a:extLst>
          </p:cNvPr>
          <p:cNvSpPr/>
          <p:nvPr/>
        </p:nvSpPr>
        <p:spPr>
          <a:xfrm>
            <a:off x="708116" y="1855502"/>
            <a:ext cx="9341658" cy="662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empresa constructora contrataría el servicio para utilizar la plataforma y recibir actualizaciones, soporte técnico y mantenimiento.</a:t>
            </a:r>
            <a:endParaRPr lang="en-US" sz="14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2D6E60E-C931-8A12-F16C-710AC749C03F}"/>
              </a:ext>
            </a:extLst>
          </p:cNvPr>
          <p:cNvSpPr/>
          <p:nvPr/>
        </p:nvSpPr>
        <p:spPr>
          <a:xfrm>
            <a:off x="607306" y="283180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📦 ¿Qué incluye?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FD6AE6A-C826-199B-2BD7-C5996192D861}"/>
              </a:ext>
            </a:extLst>
          </p:cNvPr>
          <p:cNvSpPr/>
          <p:nvPr/>
        </p:nvSpPr>
        <p:spPr>
          <a:xfrm>
            <a:off x="5689721" y="3127080"/>
            <a:ext cx="3121176" cy="2876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Propuesta de precios</a:t>
            </a:r>
          </a:p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Suscripción mensual por empresa o proyecto, con un costo que depende de factores como: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Número de usuarios.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Número de proyectos activos.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Funciones seleccionadas.</a:t>
            </a:r>
            <a:endParaRPr lang="en-US" sz="14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FA86C106-F89F-4367-CCDC-1520356FA9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480" y="6505526"/>
            <a:ext cx="1629002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76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377" y="594951"/>
            <a:ext cx="2944466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Puntos clave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376" y="149913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376" y="1795009"/>
            <a:ext cx="3496877" cy="2540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61377" y="1940265"/>
            <a:ext cx="23319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Solución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integrada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61376" y="2348946"/>
            <a:ext cx="3496877" cy="1176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RESTful + aplicación nativa para Android que digitaliza el taller, los materiales y el presupuesto en una sola plataforma.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7260" y="149913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260" y="1795009"/>
            <a:ext cx="3496877" cy="2540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347260" y="1940265"/>
            <a:ext cx="28557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Arquitectura</a:t>
            </a:r>
            <a:r>
              <a:rPr lang="en-US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185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empresarial</a:t>
            </a:r>
            <a:endParaRPr lang="en-US" sz="18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347260" y="2348947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Java 21, Spring Boot, PostgreSQL 16, </a:t>
            </a:r>
            <a:r>
              <a:rPr lang="es-MX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Flutter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diseñados para ofrecer escalabilidad, seguridad y confiabilidad.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33145" y="149913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145" y="1795009"/>
            <a:ext cx="3496877" cy="2540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8033145" y="194026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1850" b="1" dirty="0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Valor real para el negocio</a:t>
            </a:r>
          </a:p>
        </p:txBody>
      </p:sp>
      <p:sp>
        <p:nvSpPr>
          <p:cNvPr id="14" name="Text 12"/>
          <p:cNvSpPr/>
          <p:nvPr/>
        </p:nvSpPr>
        <p:spPr>
          <a:xfrm>
            <a:off x="8033145" y="2348947"/>
            <a:ext cx="3733285" cy="1223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Operaciones más rápidas, cero errores en los documentos impresos, fin a la pérdida de activos y protección de los márgenes de ganancia.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376" y="3610514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83" y="3878206"/>
            <a:ext cx="236234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624" y="3846753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50" b="1" dirty="0">
                <a:solidFill>
                  <a:schemeClr val="bg2">
                    <a:lumMod val="25000"/>
                  </a:schemeClr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Check-In-Obra: </a:t>
            </a:r>
            <a:r>
              <a:rPr lang="es-MX" sz="145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reemplaza los lentos registros en papel por registros digitales automatizados, lo que protege a las empresas constructoras contra la pérdida de activos.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A2CBDBA-ECE7-B02E-B8B4-1C1DAFC155C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5BF8-6953-E14F-CD00-5BFC7CF6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6A73D7-4259-96B7-6D44-A6150079EF63}"/>
              </a:ext>
            </a:extLst>
          </p:cNvPr>
          <p:cNvSpPr/>
          <p:nvPr/>
        </p:nvSpPr>
        <p:spPr>
          <a:xfrm>
            <a:off x="661475" y="368559"/>
            <a:ext cx="262519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700" b="1" dirty="0" err="1">
                <a:solidFill>
                  <a:schemeClr val="bg2">
                    <a:lumMod val="2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Conclusión</a:t>
            </a:r>
            <a:endParaRPr lang="en-US" sz="37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77277B-23F6-C534-98EF-43DC232EB52A}"/>
              </a:ext>
            </a:extLst>
          </p:cNvPr>
          <p:cNvSpPr/>
          <p:nvPr/>
        </p:nvSpPr>
        <p:spPr>
          <a:xfrm>
            <a:off x="661473" y="1099536"/>
            <a:ext cx="86205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s-MX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Check-In-Obra transforma la gestión de recursos en las obras de construcción.</a:t>
            </a:r>
            <a:endParaRPr lang="en-US" sz="1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FAB5780-BEB8-0F49-CBDF-C5B5A822E3FC}"/>
              </a:ext>
            </a:extLst>
          </p:cNvPr>
          <p:cNvSpPr/>
          <p:nvPr/>
        </p:nvSpPr>
        <p:spPr>
          <a:xfrm>
            <a:off x="661475" y="1510903"/>
            <a:ext cx="567894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solución permite a Constructora Nuevo Horizonte </a:t>
            </a:r>
            <a:r>
              <a:rPr lang="es-MX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</a:t>
            </a: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pasar de procesos manuales a una gestión digital, centralizada y trazable de sus herramientas, materiales y presupuestos.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25FC08B-7FA5-770E-2054-D80A9E37BBBD}"/>
              </a:ext>
            </a:extLst>
          </p:cNvPr>
          <p:cNvSpPr/>
          <p:nvPr/>
        </p:nvSpPr>
        <p:spPr>
          <a:xfrm>
            <a:off x="661475" y="2559836"/>
            <a:ext cx="3755250" cy="419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i="1" u="sng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 Check-In-Obra, nuestro objetivo es:</a:t>
            </a:r>
            <a:endParaRPr lang="en-US" sz="1400" i="1" u="sng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9C1F375-74F3-7D99-B619-C7809289322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734" y="6505526"/>
            <a:ext cx="1724266" cy="352474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0250D632-988C-4B0F-50E0-CDA03E3D5EFD}"/>
              </a:ext>
            </a:extLst>
          </p:cNvPr>
          <p:cNvSpPr/>
          <p:nvPr/>
        </p:nvSpPr>
        <p:spPr>
          <a:xfrm>
            <a:off x="661475" y="2840806"/>
            <a:ext cx="5126850" cy="2432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Reducir los tiempos de registro y administración.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Mejorar el control sobre las herramientas y los materiales.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Acceder a información en tiempo real para la toma de decisiones.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Detectar desviaciones y reducir las pérdidas de recursos.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Facilitar la adopción mediante una aplicación sencilla y capacitación inicial.</a:t>
            </a:r>
            <a:endParaRPr lang="en-US" sz="14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C4177A4-B91B-9DC9-C0C7-C4B7F4DEE809}"/>
              </a:ext>
            </a:extLst>
          </p:cNvPr>
          <p:cNvSpPr/>
          <p:nvPr/>
        </p:nvSpPr>
        <p:spPr>
          <a:xfrm>
            <a:off x="6340415" y="2463489"/>
            <a:ext cx="3648974" cy="174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00" i="1" u="sng" dirty="0" err="1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Propuesta</a:t>
            </a:r>
            <a:r>
              <a:rPr lang="en-US" sz="1400" i="1" u="sng" dirty="0">
                <a:solidFill>
                  <a:schemeClr val="bg2">
                    <a:lumMod val="2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valor: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Menos tiempo dedicado al mantenimiento de registros.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Mayor control sobre los recursos.</a:t>
            </a:r>
          </a:p>
          <a:p>
            <a:pPr marL="285750" indent="-2857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Mejores decisiones para el proyecto.</a:t>
            </a:r>
            <a:endParaRPr lang="en-US" sz="14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5D602A79-9E0F-8084-7FDE-847E097424D2}"/>
              </a:ext>
            </a:extLst>
          </p:cNvPr>
          <p:cNvSpPr/>
          <p:nvPr/>
        </p:nvSpPr>
        <p:spPr>
          <a:xfrm>
            <a:off x="575211" y="5046477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E3E3E8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298AE4E7-A6C0-D08A-14DA-F27B93829AB0}"/>
              </a:ext>
            </a:extLst>
          </p:cNvPr>
          <p:cNvSpPr/>
          <p:nvPr/>
        </p:nvSpPr>
        <p:spPr>
          <a:xfrm>
            <a:off x="1137700" y="5273241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i="1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Check-In-Obra no solo busca digitalizar un proceso, sino también proporcionar a la empresa una herramienta que genere valor operativo y económico.</a:t>
            </a:r>
            <a:endParaRPr lang="en-US" sz="1400" i="1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D0C72C48-1C8E-A974-0B4E-542ED56E5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76" y="5348463"/>
            <a:ext cx="236234" cy="18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3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1292</Words>
  <Application>Microsoft Office PowerPoint</Application>
  <PresentationFormat>Panorámica</PresentationFormat>
  <Paragraphs>162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Playfair Display Bold</vt:lpstr>
      <vt:lpstr>Arial</vt:lpstr>
      <vt:lpstr>Playfair Display</vt:lpstr>
      <vt:lpstr>Open Sans</vt:lpstr>
      <vt:lpstr>Twemoji Mozilla</vt:lpstr>
      <vt:lpstr>Open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Elizabeth</dc:creator>
  <cp:lastModifiedBy>ELIZABETH . SOTO CONCHA</cp:lastModifiedBy>
  <cp:revision>11</cp:revision>
  <dcterms:created xsi:type="dcterms:W3CDTF">2026-09-06T22:26:12Z</dcterms:created>
  <dcterms:modified xsi:type="dcterms:W3CDTF">2026-09-07T18:42:40Z</dcterms:modified>
</cp:coreProperties>
</file>